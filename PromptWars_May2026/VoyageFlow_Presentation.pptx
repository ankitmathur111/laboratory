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3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voyageflow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914400"/>
            <a:ext cx="4572000" cy="5029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5669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FFFF"/>
                </a:solidFill>
                <a:latin typeface="Arial"/>
              </a:defRPr>
            </a:pPr>
            <a:r>
              <a:t>VOYAGEFLOW</a:t>
            </a:r>
          </a:p>
          <a:p>
            <a:pPr>
              <a:spcBef>
                <a:spcPts val="1000"/>
              </a:spcBef>
              <a:defRPr sz="2800" b="1">
                <a:solidFill>
                  <a:srgbClr val="FF9933"/>
                </a:solidFill>
                <a:latin typeface="Arial"/>
              </a:defRPr>
            </a:pPr>
            <a:r>
              <a:t>Dynamic AI Travel Planner</a:t>
            </a:r>
          </a:p>
          <a:p>
            <a:pPr>
              <a:spcBef>
                <a:spcPts val="2000"/>
              </a:spcBef>
              <a:defRPr sz="1600">
                <a:solidFill>
                  <a:srgbClr val="C8D2E6"/>
                </a:solidFill>
                <a:latin typeface="Arial"/>
              </a:defRPr>
            </a:pPr>
            <a:r>
              <a:t>A Premium Spatiotemporal Constraint Solver &amp; Real-Time Event Simulator</a:t>
            </a:r>
          </a:p>
          <a:p>
            <a:pPr>
              <a:spcBef>
                <a:spcPts val="4000"/>
              </a:spcBef>
              <a:defRPr sz="1400" i="1">
                <a:solidFill>
                  <a:srgbClr val="A0B4D2"/>
                </a:solidFill>
                <a:latin typeface="Arial"/>
              </a:defRPr>
            </a:pPr>
            <a:r>
              <a:t>Hosted fully Serverless in WebAssembly on Vercel Edge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3A8A"/>
                </a:solidFill>
                <a:latin typeface="Arial"/>
              </a:defRPr>
            </a:pPr>
            <a:r>
              <a:t>Dynamic AI Travel Re-invented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9933"/>
                </a:solidFill>
                <a:latin typeface="Arial"/>
              </a:defRPr>
            </a:pPr>
            <a:r>
              <a:t>Bridging multi-constraint spatial optimization with real-time disruption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B1B3D"/>
                </a:solidFill>
              </a:defRPr>
            </a:pPr>
            <a:r>
              <a:t>• 🧭 Tailored Constraint Satisfaction</a:t>
            </a:r>
          </a:p>
          <a:p>
            <a:pPr>
              <a:spcBef>
                <a:spcPts val="300"/>
              </a:spcBef>
              <a:spcAft>
                <a:spcPts val="800"/>
              </a:spcAft>
              <a:defRPr sz="1300">
                <a:solidFill>
                  <a:srgbClr val="334155"/>
                </a:solidFill>
              </a:defRPr>
            </a:pPr>
            <a:r>
              <a:t>Dynamically filters and prioritizes geographic points-of-interest based on budget tiers, personal interest weights, wheelchair accessibility requirements, and dietary restrictions.</a:t>
            </a:r>
          </a:p>
          <a:p>
            <a:pPr>
              <a:spcBef>
                <a:spcPts val="1200"/>
              </a:spcBef>
              <a:defRPr sz="1600" b="1">
                <a:solidFill>
                  <a:srgbClr val="0B1B3D"/>
                </a:solidFill>
              </a:defRPr>
            </a:pPr>
            <a:r>
              <a:t>• 🗺️ Haversine Coordinate Optimization</a:t>
            </a:r>
          </a:p>
          <a:p>
            <a:pPr>
              <a:spcBef>
                <a:spcPts val="300"/>
              </a:spcBef>
              <a:spcAft>
                <a:spcPts val="800"/>
              </a:spcAft>
              <a:defRPr sz="1300">
                <a:solidFill>
                  <a:srgbClr val="334155"/>
                </a:solidFill>
              </a:defRPr>
            </a:pPr>
            <a:r>
              <a:t>Resolves traveling route efficiency starting from hotel coords, optimizing lunch/dinner stops nearby, and strictly validating hourly opening times.</a:t>
            </a:r>
          </a:p>
          <a:p>
            <a:pPr>
              <a:spcBef>
                <a:spcPts val="1200"/>
              </a:spcBef>
              <a:defRPr sz="1600" b="1">
                <a:solidFill>
                  <a:srgbClr val="0B1B3D"/>
                </a:solidFill>
              </a:defRPr>
            </a:pPr>
            <a:r>
              <a:t>• ⚡ Real-Time Active Disruption Simulator</a:t>
            </a:r>
          </a:p>
          <a:p>
            <a:pPr>
              <a:spcBef>
                <a:spcPts val="300"/>
              </a:spcBef>
              <a:spcAft>
                <a:spcPts val="800"/>
              </a:spcAft>
              <a:defRPr sz="1300">
                <a:solidFill>
                  <a:srgbClr val="334155"/>
                </a:solidFill>
              </a:defRPr>
            </a:pPr>
            <a:r>
              <a:t>Simulates storms, transit delays, fatigue, and sudden attraction closures on the fly, auto-replanning remaining day slots seamlessly.</a:t>
            </a:r>
          </a:p>
          <a:p>
            <a:pPr>
              <a:spcBef>
                <a:spcPts val="1200"/>
              </a:spcBef>
              <a:defRPr sz="1600" b="1">
                <a:solidFill>
                  <a:srgbClr val="0B1B3D"/>
                </a:solidFill>
              </a:defRPr>
            </a:pPr>
            <a:r>
              <a:t>• 🌐 Pure Client-Side Edge Execution</a:t>
            </a:r>
          </a:p>
          <a:p>
            <a:pPr>
              <a:spcBef>
                <a:spcPts val="300"/>
              </a:spcBef>
              <a:spcAft>
                <a:spcPts val="800"/>
              </a:spcAft>
              <a:defRPr sz="1300">
                <a:solidFill>
                  <a:srgbClr val="334155"/>
                </a:solidFill>
              </a:defRPr>
            </a:pPr>
            <a:r>
              <a:t>Bundled using Stlite WebAssembly to run entirely in the browser, eliminating cold starts, WebSocket limits, and server costs on Vercel.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0" y="1554480"/>
            <a:ext cx="4754880" cy="46634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ynamic_rerou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737360"/>
            <a:ext cx="438912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3A8A"/>
                </a:solidFill>
                <a:latin typeface="Arial"/>
              </a:defRPr>
            </a:pPr>
            <a:r>
              <a:t>Heuristic Spatiotemporal Planner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9933"/>
                </a:solidFill>
                <a:latin typeface="Arial"/>
              </a:defRPr>
            </a:pPr>
            <a:r>
              <a:t>How VoyageFlow designs a perfect, zero-conflict day-by-day travel sequence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3328416" cy="43891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9933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B1B3D"/>
                </a:solidFill>
                <a:latin typeface="Arial"/>
              </a:defRPr>
            </a:pPr>
            <a:r>
              <a:t>Nearest-Neighbor TSP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29626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334155"/>
                </a:solidFill>
              </a:defRPr>
            </a:pPr>
            <a:r>
              <a:t>• Starts each day at hotel location coordinates.</a:t>
            </a:r>
          </a:p>
          <a:p>
            <a:pPr>
              <a:spcAft>
                <a:spcPts val="1000"/>
              </a:spcAft>
              <a:defRPr sz="1300">
                <a:solidFill>
                  <a:srgbClr val="334155"/>
                </a:solidFill>
              </a:defRPr>
            </a:pPr>
            <a:r>
              <a:t>• Selects the next highest interest-matched sight close by.</a:t>
            </a:r>
          </a:p>
          <a:p>
            <a:pPr>
              <a:spcAft>
                <a:spcPts val="1000"/>
              </a:spcAft>
              <a:defRPr sz="1300">
                <a:solidFill>
                  <a:srgbClr val="334155"/>
                </a:solidFill>
              </a:defRPr>
            </a:pPr>
            <a:r>
              <a:t>• Calculates walking/driving/transit duration and fare on the fly.</a:t>
            </a:r>
          </a:p>
          <a:p>
            <a:pPr>
              <a:spcAft>
                <a:spcPts val="1000"/>
              </a:spcAft>
              <a:defRPr sz="1300">
                <a:solidFill>
                  <a:srgbClr val="334155"/>
                </a:solidFill>
              </a:defRPr>
            </a:pPr>
            <a:r>
              <a:t>• Minimizes cumulative transit lag dynamically.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5696" y="1645920"/>
            <a:ext cx="3328416" cy="43891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182880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9933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237744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B1B3D"/>
                </a:solidFill>
                <a:latin typeface="Arial"/>
              </a:defRPr>
            </a:pPr>
            <a:r>
              <a:t>Constraint Verification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6" y="3017520"/>
            <a:ext cx="29626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334155"/>
                </a:solidFill>
              </a:defRPr>
            </a:pPr>
            <a:r>
              <a:t>• Interest Weighting: Dynamically ranks places based on user vibes.</a:t>
            </a:r>
          </a:p>
          <a:p>
            <a:pPr>
              <a:spcAft>
                <a:spcPts val="1000"/>
              </a:spcAft>
              <a:defRPr sz="1300">
                <a:solidFill>
                  <a:srgbClr val="334155"/>
                </a:solidFill>
              </a:defRPr>
            </a:pPr>
            <a:r>
              <a:t>• Time-Window Matching: Assures arrival + duration matches opening hours.</a:t>
            </a:r>
          </a:p>
          <a:p>
            <a:pPr>
              <a:spcAft>
                <a:spcPts val="1000"/>
              </a:spcAft>
              <a:defRPr sz="1300">
                <a:solidFill>
                  <a:srgbClr val="334155"/>
                </a:solidFill>
              </a:defRPr>
            </a:pPr>
            <a:r>
              <a:t>• Pace Control: Limits daily stops (Relaxed 2-3, Moderate 4-5, Packed 6+).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19872" y="1645920"/>
            <a:ext cx="3328416" cy="43891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82880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9933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2377440"/>
            <a:ext cx="29626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B1B3D"/>
                </a:solidFill>
                <a:latin typeface="Arial"/>
              </a:defRPr>
            </a:pPr>
            <a:r>
              <a:t>Dietary &amp; Health Integrity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017520"/>
            <a:ext cx="29626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334155"/>
                </a:solidFill>
              </a:defRPr>
            </a:pPr>
            <a:r>
              <a:t>• Selects budget &amp; dietary-compliant restaurants (Vegan, Halal, Gluten-Free).</a:t>
            </a:r>
          </a:p>
          <a:p>
            <a:pPr>
              <a:spcAft>
                <a:spcPts val="1000"/>
              </a:spcAft>
              <a:defRPr sz="1300">
                <a:solidFill>
                  <a:srgbClr val="334155"/>
                </a:solidFill>
              </a:defRPr>
            </a:pPr>
            <a:r>
              <a:t>• Integrates lunch (12:30 PM) and dinner stops near coordinates.</a:t>
            </a:r>
          </a:p>
          <a:p>
            <a:pPr>
              <a:spcAft>
                <a:spcPts val="1000"/>
              </a:spcAft>
              <a:defRPr sz="1300">
                <a:solidFill>
                  <a:srgbClr val="334155"/>
                </a:solidFill>
              </a:defRPr>
            </a:pPr>
            <a:r>
              <a:t>• Excludes inaccessible landmarks for wheelchair users.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3A8A"/>
                </a:solidFill>
                <a:latin typeface="Arial"/>
              </a:defRPr>
            </a:pPr>
            <a:r>
              <a:t>Real-Time Disruption &amp; Replanning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9933"/>
                </a:solidFill>
                <a:latin typeface="Arial"/>
              </a:defRPr>
            </a:pPr>
            <a:r>
              <a:t>Intercepting real-world events and running delta-optimizations in milliseconds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20116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B1B3D"/>
                </a:solidFill>
                <a:latin typeface="Arial"/>
              </a:defRPr>
            </a:pPr>
            <a:r>
              <a:t>🌧️ Torrential Rain Storm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rial"/>
              </a:defRPr>
            </a:pPr>
            <a:r>
              <a:t>Scans subsequent daily slots, automatically replaces all outdoor attractions with pre-seeded indoor alternatives (or cozy coffee shelters), and recalculates routes.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645920"/>
            <a:ext cx="5120640" cy="20116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B1B3D"/>
                </a:solidFill>
                <a:latin typeface="Arial"/>
              </a:defRPr>
            </a:pPr>
            <a:r>
              <a:t>⏱️ Transit &amp; Flight Delays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rial"/>
              </a:defRPr>
            </a:pPr>
            <a:r>
              <a:t>Shifts subsequent timelines forward. If an activity is pushed past its closing hours, it automatically drops the lowest-priority spot and stretches the remaining schedule.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023360"/>
            <a:ext cx="5120640" cy="20116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206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B1B3D"/>
                </a:solidFill>
                <a:latin typeface="Arial"/>
              </a:defRPr>
            </a:pPr>
            <a:r>
              <a:t>🚧 Landmark Closed Alert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6344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rial"/>
              </a:defRPr>
            </a:pPr>
            <a:r>
              <a:t>Removes the affected attraction instantly. Searches for nearby equivalent interest matches, seamlessly re-sequencing the transit segments and budget on the fly.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4023360"/>
            <a:ext cx="5120640" cy="20116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4206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B1B3D"/>
                </a:solidFill>
                <a:latin typeface="Arial"/>
              </a:defRPr>
            </a:pPr>
            <a:r>
              <a:t>🥱 Traveler Fatigue Alert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66344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rial"/>
              </a:defRPr>
            </a:pPr>
            <a:r>
              <a:t>Detects high exhaustion levels. Drops strenuous high-effort sights, inserts coffee rest slots, and pulls forward the hotel return time for quick recovery.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3A8A"/>
                </a:solidFill>
                <a:latin typeface="Arial"/>
              </a:defRPr>
            </a:pPr>
            <a:r>
              <a:t>Premium Glassmorphic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9933"/>
                </a:solidFill>
                <a:latin typeface="Arial"/>
              </a:defRPr>
            </a:pPr>
            <a:r>
              <a:t>Vibrant modern aesthetics designed to wow the traveler at first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2423160" cy="43891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2057400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2057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B1B3D"/>
                </a:solidFill>
                <a:latin typeface="Arial"/>
              </a:defRPr>
            </a:pPr>
            <a:r>
              <a:t>Legibility &amp; Contrast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2057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rial"/>
              </a:defRPr>
            </a:pPr>
            <a:r>
              <a:t>Strictly adheres to White primary and Navy Blue secondary styling. Entirely avoids light gray text/borders on white backgrounds to ensure flawless visual accessibility.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3864" y="1645920"/>
            <a:ext cx="2423160" cy="43891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66744" y="1828800"/>
            <a:ext cx="2057400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6744" y="2103120"/>
            <a:ext cx="2057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B1B3D"/>
                </a:solidFill>
                <a:latin typeface="Arial"/>
              </a:defRPr>
            </a:pPr>
            <a:r>
              <a:t>3D PyDeck Maps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6744" y="2926080"/>
            <a:ext cx="2057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rial"/>
              </a:defRPr>
            </a:pPr>
            <a:r>
              <a:t>Integrates Mapbox Light styling overlaid with sequential orange paths, deep navy location labels, and emerald restaurant marker dots.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6208" y="1645920"/>
            <a:ext cx="2423160" cy="43891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19088" y="1828800"/>
            <a:ext cx="2057400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2103120"/>
            <a:ext cx="2057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B1B3D"/>
                </a:solidFill>
                <a:latin typeface="Arial"/>
              </a:defRPr>
            </a:pPr>
            <a:r>
              <a:t>Interactive Budgets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926080"/>
            <a:ext cx="2057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rial"/>
              </a:defRPr>
            </a:pPr>
            <a:r>
              <a:t>Displays real-time custom Plotly Pie charts outlining financial resource allocation (Hotel, Dining, Activities, Transit fares).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88552" y="1645920"/>
            <a:ext cx="2423160" cy="43891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71432" y="1828800"/>
            <a:ext cx="2057400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71432" y="2103120"/>
            <a:ext cx="2057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B1B3D"/>
                </a:solidFill>
                <a:latin typeface="Arial"/>
              </a:defRPr>
            </a:pPr>
            <a:r>
              <a:t>HTML Timelines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71432" y="2926080"/>
            <a:ext cx="2057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rial"/>
              </a:defRPr>
            </a:pPr>
            <a:r>
              <a:t>Renders beautiful scrolling custom timelines with color-coded badges, visual efforts, and structured travel and rest metrics.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Serverless WebAssembly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9933"/>
                </a:solidFill>
                <a:latin typeface="Arial"/>
              </a:defRPr>
            </a:pPr>
            <a:r>
              <a:t>Running complex Python dashboards on the Edge without backend servers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600" b="1">
                <a:solidFill>
                  <a:srgbClr val="FF9933"/>
                </a:solidFill>
              </a:defRPr>
            </a:pPr>
            <a:r>
              <a:t>• The Serverless Barrier</a:t>
            </a:r>
          </a:p>
          <a:p>
            <a:pPr>
              <a:spcBef>
                <a:spcPts val="400"/>
              </a:spcBef>
              <a:defRPr sz="1300">
                <a:solidFill>
                  <a:srgbClr val="DCE6F5"/>
                </a:solidFill>
              </a:defRPr>
            </a:pPr>
            <a:r>
              <a:t>Standard Streamlit apps require active persistent servers and active WebSockets, which are fundamentally incompatible with Vercel's stateless, ephemeral backend functions.</a:t>
            </a:r>
          </a:p>
          <a:p>
            <a:pPr>
              <a:spcBef>
                <a:spcPts val="1400"/>
              </a:spcBef>
              <a:defRPr sz="1600" b="1">
                <a:solidFill>
                  <a:srgbClr val="FF9933"/>
                </a:solidFill>
              </a:defRPr>
            </a:pPr>
            <a:r>
              <a:t>• The Stlite Breakthrough</a:t>
            </a:r>
          </a:p>
          <a:p>
            <a:pPr>
              <a:spcBef>
                <a:spcPts val="400"/>
              </a:spcBef>
              <a:defRPr sz="1300">
                <a:solidFill>
                  <a:srgbClr val="DCE6F5"/>
                </a:solidFill>
              </a:defRPr>
            </a:pPr>
            <a:r>
              <a:t>VoyageFlow bypasses this by utilizing Stlite to compile Streamlit and its heavy data suites (pandas, plotly, pydeck, pydantic) into WebAssembly (Pyodide).</a:t>
            </a:r>
          </a:p>
          <a:p>
            <a:pPr>
              <a:spcBef>
                <a:spcPts val="1400"/>
              </a:spcBef>
              <a:defRPr sz="1600" b="1">
                <a:solidFill>
                  <a:srgbClr val="FF9933"/>
                </a:solidFill>
              </a:defRPr>
            </a:pPr>
            <a:r>
              <a:t>• Single-File HTML Bundle</a:t>
            </a:r>
          </a:p>
          <a:p>
            <a:pPr>
              <a:spcBef>
                <a:spcPts val="400"/>
              </a:spcBef>
              <a:defRPr sz="1300">
                <a:solidFill>
                  <a:srgbClr val="DCE6F5"/>
                </a:solidFill>
              </a:defRPr>
            </a:pPr>
            <a:r>
              <a:t>A custom build compiler (`build_stlite.py`) compresses your complete source code structure into a single Base64 string embedded in a clean index.html.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600" b="1">
                <a:solidFill>
                  <a:srgbClr val="FF9933"/>
                </a:solidFill>
              </a:defRPr>
            </a:pPr>
            <a:r>
              <a:t>• Vercel Routing Bypass</a:t>
            </a:r>
          </a:p>
          <a:p>
            <a:pPr>
              <a:spcBef>
                <a:spcPts val="400"/>
              </a:spcBef>
              <a:defRPr sz="1300">
                <a:solidFill>
                  <a:srgbClr val="DCE6F5"/>
                </a:solidFill>
              </a:defRPr>
            </a:pPr>
            <a:r>
              <a:t>Vercel's automatic Python detector tries to build app.py as an ASGI server, failing because Streamlit has no 'app' export. We bypassed this elegantly with static routing.</a:t>
            </a:r>
          </a:p>
          <a:p>
            <a:pPr>
              <a:spcBef>
                <a:spcPts val="1400"/>
              </a:spcBef>
              <a:defRPr sz="1600" b="1">
                <a:solidFill>
                  <a:srgbClr val="FF9933"/>
                </a:solidFill>
              </a:defRPr>
            </a:pPr>
            <a:r>
              <a:t>• Explicit Builds &amp; Ignores</a:t>
            </a:r>
          </a:p>
          <a:p>
            <a:pPr>
              <a:spcBef>
                <a:spcPts val="400"/>
              </a:spcBef>
              <a:defRPr sz="1300">
                <a:solidFill>
                  <a:srgbClr val="DCE6F5"/>
                </a:solidFill>
              </a:defRPr>
            </a:pPr>
            <a:r>
              <a:t>Added explicit vercel.json builders targeting only static index.html and added .vercelignore filters to isolate py scripts from Vercel's compiler.</a:t>
            </a:r>
          </a:p>
          <a:p>
            <a:pPr>
              <a:spcBef>
                <a:spcPts val="1400"/>
              </a:spcBef>
              <a:defRPr sz="1600" b="1">
                <a:solidFill>
                  <a:srgbClr val="FF9933"/>
                </a:solidFill>
              </a:defRPr>
            </a:pPr>
            <a:r>
              <a:t>• Global CDN Performance</a:t>
            </a:r>
          </a:p>
          <a:p>
            <a:pPr>
              <a:spcBef>
                <a:spcPts val="400"/>
              </a:spcBef>
              <a:defRPr sz="1300">
                <a:solidFill>
                  <a:srgbClr val="DCE6F5"/>
                </a:solidFill>
              </a:defRPr>
            </a:pPr>
            <a:r>
              <a:t>Because the app is fully static, it is cached on Vercel's global Edge Network, providing instant load times, zero server cost, and zero cold starts!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